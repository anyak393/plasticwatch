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734e6ea1e04193" /><Relationship Type="http://schemas.openxmlformats.org/officeDocument/2006/relationships/extended-properties" Target="/docProps/app.xml" Id="Re5e643dbdc0140fe" /><Relationship Type="http://schemas.openxmlformats.org/officeDocument/2006/relationships/officeDocument" Target="/ppt/presentation.xml" Id="Raee5256d1c414f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6a04664c154739"/>
  </p:sldMasterIdLst>
  <p:notesMasterIdLst>
    <p:notesMasterId xmlns:r="http://schemas.openxmlformats.org/officeDocument/2006/relationships" r:id="R33a7965f5dcb4e73"/>
  </p:notesMasterIdLst>
  <p:sldIdLst>
    <p:sldId xmlns:r="http://schemas.openxmlformats.org/officeDocument/2006/relationships" id="256" r:id="R4aede43d08154716"/>
    <p:sldId xmlns:r="http://schemas.openxmlformats.org/officeDocument/2006/relationships" id="257" r:id="R803eb48d24a3453f"/>
    <p:sldId xmlns:r="http://schemas.openxmlformats.org/officeDocument/2006/relationships" id="258" r:id="R9263e22cf3484299"/>
    <p:sldId xmlns:r="http://schemas.openxmlformats.org/officeDocument/2006/relationships" id="259" r:id="Rcf16bd956a514aa4"/>
    <p:sldId xmlns:r="http://schemas.openxmlformats.org/officeDocument/2006/relationships" id="260" r:id="R70cf3e26c51f493c"/>
    <p:sldId xmlns:r="http://schemas.openxmlformats.org/officeDocument/2006/relationships" id="261" r:id="Re35efaf19c6a469f"/>
    <p:sldId xmlns:r="http://schemas.openxmlformats.org/officeDocument/2006/relationships" id="262" r:id="R37c216f570694e32"/>
    <p:sldId xmlns:r="http://schemas.openxmlformats.org/officeDocument/2006/relationships" id="263" r:id="R67f3cb85b8c64718"/>
    <p:sldId xmlns:r="http://schemas.openxmlformats.org/officeDocument/2006/relationships" id="264" r:id="R597dd52b3bb547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dab1f0ebd9404e" /><Relationship Type="http://schemas.openxmlformats.org/officeDocument/2006/relationships/slideMaster" Target="/ppt/slideMasters/slideMaster1.xml" Id="R0f6a04664c154739" /><Relationship Type="http://schemas.openxmlformats.org/officeDocument/2006/relationships/notesMaster" Target="/ppt/notesMasters/notesMaster1.xml" Id="R33a7965f5dcb4e73" /><Relationship Type="http://schemas.openxmlformats.org/officeDocument/2006/relationships/presProps" Target="/ppt/presProps.xml" Id="R0802ac3f001e4538" /><Relationship Type="http://schemas.openxmlformats.org/officeDocument/2006/relationships/tableStyles" Target="/ppt/tableStyles.xml" Id="R894172ed155e4e07" /><Relationship Type="http://schemas.openxmlformats.org/officeDocument/2006/relationships/slide" Target="/ppt/slides/slide1.xml" Id="R4aede43d08154716" /><Relationship Type="http://schemas.openxmlformats.org/officeDocument/2006/relationships/slide" Target="/ppt/slides/slide2.xml" Id="R803eb48d24a3453f" /><Relationship Type="http://schemas.openxmlformats.org/officeDocument/2006/relationships/slide" Target="/ppt/slides/slide3.xml" Id="R9263e22cf3484299" /><Relationship Type="http://schemas.openxmlformats.org/officeDocument/2006/relationships/slide" Target="/ppt/slides/slide4.xml" Id="Rcf16bd956a514aa4" /><Relationship Type="http://schemas.openxmlformats.org/officeDocument/2006/relationships/slide" Target="/ppt/slides/slide5.xml" Id="R70cf3e26c51f493c" /><Relationship Type="http://schemas.openxmlformats.org/officeDocument/2006/relationships/slide" Target="/ppt/slides/slide6.xml" Id="Re35efaf19c6a469f" /><Relationship Type="http://schemas.openxmlformats.org/officeDocument/2006/relationships/slide" Target="/ppt/slides/slide7.xml" Id="R37c216f570694e32" /><Relationship Type="http://schemas.openxmlformats.org/officeDocument/2006/relationships/slide" Target="/ppt/slides/slide8.xml" Id="R67f3cb85b8c64718" /><Relationship Type="http://schemas.openxmlformats.org/officeDocument/2006/relationships/slide" Target="/ppt/slides/slide9.xml" Id="R597dd52b3bb547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7f67ef50284c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39726ecc0477a" /><Relationship Type="http://schemas.openxmlformats.org/officeDocument/2006/relationships/notesMaster" Target="/ppt/notesMasters/notesMaster1.xml" Id="Rf25f8c000c894d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0338f28b94723" /><Relationship Type="http://schemas.openxmlformats.org/officeDocument/2006/relationships/notesMaster" Target="/ppt/notesMasters/notesMaster1.xml" Id="R8461d2d0a5bc43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61c4c746434b26" /><Relationship Type="http://schemas.openxmlformats.org/officeDocument/2006/relationships/notesMaster" Target="/ppt/notesMasters/notesMaster1.xml" Id="Rf7f902ae9fcc48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f09104c0f94939" /><Relationship Type="http://schemas.openxmlformats.org/officeDocument/2006/relationships/notesMaster" Target="/ppt/notesMasters/notesMaster1.xml" Id="Re49b1d8fa9b14c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f7177f84b44434" /><Relationship Type="http://schemas.openxmlformats.org/officeDocument/2006/relationships/notesMaster" Target="/ppt/notesMasters/notesMaster1.xml" Id="Rbe2a397c7b7f40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380fbfbdb94831" /><Relationship Type="http://schemas.openxmlformats.org/officeDocument/2006/relationships/notesMaster" Target="/ppt/notesMasters/notesMaster1.xml" Id="Rfd0153bcb2b44e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727342218147fb" /><Relationship Type="http://schemas.openxmlformats.org/officeDocument/2006/relationships/notesMaster" Target="/ppt/notesMasters/notesMaster1.xml" Id="R700f55781b344c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ff2a61db974d90" /><Relationship Type="http://schemas.openxmlformats.org/officeDocument/2006/relationships/notesMaster" Target="/ppt/notesMasters/notesMaster1.xml" Id="Rf5e6051539b84b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b6ef1ff1b84f73" /><Relationship Type="http://schemas.openxmlformats.org/officeDocument/2006/relationships/notesMaster" Target="/ppt/notesMasters/notesMaster1.xml" Id="R0b74a419126248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PlasticWatch pitch deck for PS-08. All demo metrics shown later use the repository's synthetic replay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source: user-provided PS-08 brief. No external statistics are asserted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based on the PS-08 brief and the repository's PlasticWatch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calculated from backend/plasticwatch_pipeline.py. They are synthetic replay outputs, not municipal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 in code: confidence, severity, recurrence, and drain exposure. Percent display is illustrative scaling of the existing inputs for presentation clarity.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TACO data facts read from data/taco/data/annotations.json. Source: TACO dataset, CC BY 4.0.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Queue based on synthetic replay outputs. Responsible-AI scope follows the PS-08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Scalability architecture is proposed based on existing provider-based design. No claim of production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separately delivered demo video script for exact narration.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635b03fb44f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862b9cbf384c3a" /><Relationship Type="http://schemas.openxmlformats.org/officeDocument/2006/relationships/slideLayout" Target="/ppt/slideLayouts/slideLayout1.xml" Id="Rec7a7b8498bb48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7a7b8498bb48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ed04644f84f53" /><Relationship Type="http://schemas.openxmlformats.org/officeDocument/2006/relationships/notesSlide" Target="/ppt/notesSlides/notesSlide1.xml" Id="R71c7419f3bc24e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219d33eba4fff" /><Relationship Type="http://schemas.openxmlformats.org/officeDocument/2006/relationships/notesSlide" Target="/ppt/notesSlides/notesSlide2.xml" Id="R236260f40c7c48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0e62c77d84726" /><Relationship Type="http://schemas.openxmlformats.org/officeDocument/2006/relationships/notesSlide" Target="/ppt/notesSlides/notesSlide3.xml" Id="R9b802b26b4684a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0a85b7b494427" /><Relationship Type="http://schemas.openxmlformats.org/officeDocument/2006/relationships/notesSlide" Target="/ppt/notesSlides/notesSlide4.xml" Id="R28be7dc569d4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de56c2df748fb" /><Relationship Type="http://schemas.openxmlformats.org/officeDocument/2006/relationships/notesSlide" Target="/ppt/notesSlides/notesSlide5.xml" Id="R2ef9f82cecfc4d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6da8dc7a7486e" /><Relationship Type="http://schemas.openxmlformats.org/officeDocument/2006/relationships/notesSlide" Target="/ppt/notesSlides/notesSlide6.xml" Id="R82d8d793f2f84e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f8ab20a954b15" /><Relationship Type="http://schemas.openxmlformats.org/officeDocument/2006/relationships/notesSlide" Target="/ppt/notesSlides/notesSlide7.xml" Id="R47ff4b765d3d47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9ebb7623c43b3" /><Relationship Type="http://schemas.openxmlformats.org/officeDocument/2006/relationships/notesSlide" Target="/ppt/notesSlides/notesSlide8.xml" Id="R924103007af444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d55a1ea9043eb" /><Relationship Type="http://schemas.openxmlformats.org/officeDocument/2006/relationships/notesSlide" Target="/ppt/notesSlides/notesSlide9.xml" Id="Rc4034985d16047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41682-9296-4F32-886E-187036F6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8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8B7C4-8F49-4454-93FD-D3A4010D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8A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F4881-D448-4F07-B003-11AD1A5A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PS-08 · Climate, Water &amp; Circularity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69C8A-9E5C-4D22-B22E-0CA180C2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95400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PlasticWatch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AB72A-406F-4AE5-A8EA-20249912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FC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FCBFF"/>
                </a:solidFill>
                <a:latin typeface="Helvetica Neue"/>
                <a:ea typeface="Helvetica Neue"/>
                <a:cs typeface="Helvetica Neue"/>
              </a:rPr>
              <a:t>Plastic Waste Intelligence Command Center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67099-D58A-4138-AB3B-A3E76ABF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5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An explainable AI-GIS workflow that turns image reports into verified cleanup priorities.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EEF03-7D39-47F7-9EE7-209032C1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6B94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55DA7-61D4-49DB-B2D4-5CA1C1D5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51C"/>
                </a:solidFill>
                <a:latin typeface="Helvetica Neue"/>
                <a:ea typeface="Helvetica Neue"/>
                <a:cs typeface="Helvetica Neue"/>
              </a:rPr>
              <a:t>DEMO /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2EAC0-A42D-468A-96C6-415C397F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9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Synthetic reports are clearly labelled. Human teams verify every hotspot before a cleanup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7FDD1-C0FA-4A70-9B02-D6A36CDB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0150"/>
            <a:ext cx="2781300" cy="37147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D3A3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C6F07-F676-4FE2-8173-FE016ED3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161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23"/>
          </a:bodyPr>
          <a:lstStyle xmlns:a="http://schemas.openxmlformats.org/drawingml/2006/main"/>
          <a:p xmlns:a="http://schemas.openxmlformats.org/drawingml/2006/main">
            <a:pPr>
              <a:defRPr sz="79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9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FA1E1-E3CD-400E-9DFC-132EDCB4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00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REPORT</a:t>
            </a:r>
          </a:p>
          <a:p xmlns:a="http://schemas.openxmlformats.org/drawingml/2006/main">
            <a:pPr>
              <a:defRPr sz="12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AI EVIDENCE</a:t>
            </a:r>
          </a:p>
          <a:p xmlns:a="http://schemas.openxmlformats.org/drawingml/2006/main">
            <a:pPr>
              <a:defRPr sz="12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HOTSPOT</a:t>
            </a:r>
          </a:p>
          <a:p xmlns:a="http://schemas.openxmlformats.org/drawingml/2006/main">
            <a:pPr>
              <a:defRPr sz="12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  <a:p xmlns:a="http://schemas.openxmlformats.org/drawingml/2006/main">
            <a:pPr>
              <a:defRPr sz="12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CLEANUP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C9C81-7BE4-4604-9F9D-DE6BF4AC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College Hackathon Proposal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2B04C-FE13-4A02-BBA4-3DE469BD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PlasticWatch · PS-08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63F34-D228-4C74-B606-81C1ECC6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85981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81BBE-ABDB-4FF8-BFF7-235EBF2C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THE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B0F48-67FE-4007-AC6D-BC2A18E3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Plastic waste reports rarely become actionable work orders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67191-D33C-44B3-9E69-ADA0D58B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PS-08 asks for detection, geospatial clustering, prioritisation, verification, and cleanup planning.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F2B2E-F3C4-4A4D-8A70-4540CE0B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000625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015EA-3012-4602-AEA6-CE6FB375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22E7C-EAEE-4D2A-8121-A33ED73B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479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Scattered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0068B-CA80-44F4-B236-096056B4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28900"/>
            <a:ext cx="376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Images and complaints sit in separate channels.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C9420-149D-467B-9A3F-AA52232F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038350"/>
            <a:ext cx="5000625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C6343-0823-490E-AFD8-F97C2156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266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02064-EF0B-4A3E-B53E-9C20DF55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479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Weak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C8335-1E8D-4640-8CD9-12FE9E2F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28900"/>
            <a:ext cx="376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A single image can show plastic, algae, glare, or mixed waste.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C38B9-C522-4D40-BC5A-94FCDFCC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5000625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E925D-F700-443D-BE82-403B648F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116B0-7F3C-4878-85BD-8CEB9CD2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624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Water exposure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CE214-CB94-4968-BF3F-4B39A4C4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43400"/>
            <a:ext cx="376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Sites near drains can carry waste into water bodies.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539A7-B34C-4674-A2FD-674132DF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52850"/>
            <a:ext cx="5000625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218AC-5F0E-4CC8-B1E4-D8918F9B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981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DEA89-D3BD-4DCB-80A3-DD0608D8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96240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Reactive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0CC9DD-A038-45B2-8708-BD782F46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43400"/>
            <a:ext cx="3762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Teams lack a ranked, auditable verification queue.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97766-2932-4FC2-A00D-26DFDC61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FC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6FCBFF"/>
                </a:solidFill>
                <a:latin typeface="Helvetica Neue"/>
                <a:ea typeface="Helvetica Neue"/>
                <a:cs typeface="Helvetica Neue"/>
              </a:rPr>
              <a:t>PlasticWatch creates one evidence trail from report to verified field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411569-F1AB-42A5-8F23-4E59829E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PlasticWatch · PS-08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A3471-9DAF-4C36-B012-BFF305BA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4633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0827FA-CD2A-44E4-8467-06E8DC86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WORKING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D1D39-42F9-4FEA-9F1B-B45E0B38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Evidence-to-action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2E3E0-CB3C-4219-96F2-768515D2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The prototype keeps AI advisory. Ward teams make verification and cleanup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33719-88FD-45D8-847B-FE672155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121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D86DF-8ED3-45F8-8B59-A818FA79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86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6E247-184D-4822-9794-0B0D17E6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71800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9A156-2DF2-4068-BEC3-40346AFE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790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268A6-DFEA-4E33-9189-53D44FAF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71750"/>
            <a:ext cx="121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805CE-BB5E-4344-A0DF-42853939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686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BA9BE-4D31-4DF0-BDEC-E37EAE89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71800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AI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ED7E2-CF59-43C1-B4D3-41F8C376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90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F42E4-51E0-49E3-9E68-FE12F616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71750"/>
            <a:ext cx="121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2CA63-7942-4F45-815E-F5084E29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86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945A37-C0AF-4F66-9F48-DD0E195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71800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Merge duplicates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E8F3E-E412-4749-91F2-E42707FC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90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EAB0B-574B-4BA2-A92A-4CFD099F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121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C72FF-CCF6-4C8E-A724-F7B416E9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86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C10FD-F7FC-4C96-89F0-3FA67A62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71800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Hotspot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701B6-5DBF-4829-B6F5-16492A9B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90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A0EE7-EA06-4C8A-ACD4-85885046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121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CA180-0871-4517-B640-4F10B6A9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2F800-5E28-4B03-8F1D-66DD229F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71800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Drain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8B066-84D4-4D95-B16F-48754608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90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DC201-CF8D-44F3-8550-690FC0E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121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A1CA5-4181-4FB4-B972-6C1673EA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86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72948-259F-4B37-8C24-80AF099D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71800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7073C-71C5-4722-98C9-F09312E1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790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A4E33D-A19C-44B9-99F3-D46EEFB8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71750"/>
            <a:ext cx="1219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B89F47-012F-4CA4-A06E-DDC4E033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86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28739E-AA16-4489-91EC-DA09DE7E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71800"/>
            <a:ext cx="1219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Cleanup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C2DBE-5EE4-4E09-BCAD-E5590D6E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14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Before / after evidence closes the loop and becomes training feedback.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C6860-E065-4470-9B77-69F7D395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PlasticWatch · PS-08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243F7A-F342-41D6-A2BD-F10CE732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6201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CA1E33-8704-4719-B87B-3865A9E5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DEMO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09433-2714-45CA-85D3-9A603B38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A Pune municipal pilot turns six reports into three hotspots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24A98-05ED-4DA5-ACC3-85706036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All values below come from the current transparent replay dataset.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0E6C3-FCAC-4740-B6BF-A34AE6C6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0A360-D09C-47F7-8D64-DABD689B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429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374E7-79FA-4683-819C-F31B8997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Merged hotspots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5E888-70A5-405C-B26E-08ACC0CE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52625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4D9D6-289A-4AC0-90F6-7556FF80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145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429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0C90F-52F4-4C48-9817-B58D77A9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90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Reports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BFF70-3E47-4947-8600-3569A005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FC8CD-EA6E-447D-8A02-C43D75BE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429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B17A7-CFD5-4E93-A469-4B5D55FF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Near-drain sites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66F27-2685-44BB-A9B5-D68DF312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52625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99C85-0F6C-4EBF-95E2-7FFC0207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145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429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D0E5D-E0C2-42DD-9EDE-FAFF59C6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5908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Verified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AAA9D-68A1-4FC5-A2FD-30CA3CF9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7239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104EB-E716-4649-80AF-FB515F31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HOTSPOT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3F8DE-CDB7-458C-8E88-C552F218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291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DFABC-CEEB-48D2-B790-41636167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910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93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PH-01</a:t>
            </a:r>
          </a:p>
          <a:p xmlns:a="http://schemas.openxmlformats.org/drawingml/2006/main">
            <a:pPr>
              <a:def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CRITICAL  99.1/100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A1DE9-F652-484F-969B-13760957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05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869DA-F22B-44F0-8660-7603E02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672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93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PH-02</a:t>
            </a:r>
          </a:p>
          <a:p xmlns:a="http://schemas.openxmlformats.org/drawingml/2006/main">
            <a:pPr>
              <a:def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CRITICAL  91.8/100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A4067-A2C0-4691-9323-E28A67F7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80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FC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6FCBFF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47FFA-BCCC-4345-AB28-B8E00FD9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005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PH-03</a:t>
            </a:r>
          </a:p>
          <a:p xmlns:a="http://schemas.openxmlformats.org/drawingml/2006/main">
            <a:pPr>
              <a:def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VERIFY  46.5/100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726B70-6034-4B74-BC6C-A66A8FDC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6B6CA-3A3F-47A5-AA7C-60905D14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338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42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PH-01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75EDB-2BD1-4783-9CA7-0E2D207E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14750"/>
            <a:ext cx="1285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38B5DC-B110-43AA-9302-59D6F790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7190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51C"/>
                </a:solidFill>
                <a:latin typeface="Helvetica Neue"/>
                <a:ea typeface="Helvetica Neue"/>
                <a:cs typeface="Helvetica Neue"/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CD8D4-DAAB-4BC0-BE20-506962D3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195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85% AI confidence</a:t>
            </a:r>
          </a:p>
          <a:p xmlns:a="http://schemas.openxmlformats.org/drawingml/2006/main">
            <a:pPr>
              <a:defRPr sz="127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3 merged reports</a:t>
            </a:r>
          </a:p>
          <a:p xmlns:a="http://schemas.openxmlformats.org/drawingml/2006/main">
            <a:pPr>
              <a:defRPr sz="127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35 m to nearest drain</a:t>
            </a:r>
          </a:p>
          <a:p xmlns:a="http://schemas.openxmlformats.org/drawingml/2006/main">
            <a:pPr>
              <a:defRPr sz="127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1 verified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2EA38-72AC-470E-A199-AC12361B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PlasticWatch · PS-08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16EABF-DEB8-4B79-80C3-1BF80C5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9482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95F6F7-EA75-48AE-951F-68979380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EXPLAINABLE PRIORITISATION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652DA-E6AF-494B-A7CC-571856D8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51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PH-01 ranks first because the evidence and water exposure are both strong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DE887-9170-4924-BDD7-C6D41E89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Priority uses the existing scoring components rather than a black-box recommendation.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141C0-DC75-48B4-97B0-1C867F27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AI confidence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4579E-F4BC-4830-ABE9-3CD2BC30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5429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432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93DD9-7473-4082-8A49-370ADC8C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4614863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1C8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393F1-966F-4CE2-87FC-16ADA882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85%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C2297-EAEE-4F26-B3E7-3EEFE7AE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Severity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BB728-84A6-4E9F-B4EB-46AF09D9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86075"/>
            <a:ext cx="5429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4323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3A8F6-15E0-424A-98B2-6013A0BD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86075"/>
            <a:ext cx="4343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730DA-4DEB-4F78-993A-23CEBD07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860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9732A-E372-4A48-9C15-9711538C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290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Recurrence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35EE8-F480-4959-8812-D0AE9081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29025"/>
            <a:ext cx="5429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4323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08C1E-7511-4C78-90D6-12137600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29025"/>
            <a:ext cx="4071938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6B94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A8117-ADDD-4DC3-8FFE-8451C89F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290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B9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6B94C"/>
                </a:solidFill>
                <a:latin typeface="Helvetica Neue"/>
                <a:ea typeface="Helvetica Neue"/>
                <a:cs typeface="Helvetica Neue"/>
              </a:rPr>
              <a:t>75%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AA2AC-B78F-42BB-BFE1-9F47E0E2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Drain proximity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E36D1-492E-44AA-91A0-39DD8AF4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71975"/>
            <a:ext cx="5429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432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35A85-8F13-4810-9E17-DEB48060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71975"/>
            <a:ext cx="5429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FCB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11681-CB1B-403E-9383-FBE2120D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719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C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FCBFF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F235A-D604-417A-84E4-7C703DE7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1476375" cy="23431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32F3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ABE6C-57B4-428A-B56D-D7DE1116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33625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PH-01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0A789-D325-41BF-AC15-C205FD24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19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rPr>
              <a:t>99.1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AA0CE-1ADF-49FE-A12E-059DD122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147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priority</a:t>
            </a:r>
          </a:p>
          <a:p xmlns:a="http://schemas.openxmlformats.org/drawingml/2006/main">
            <a:pPr>
              <a:defRPr sz="12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/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356AA1-69A5-4A6E-8D28-00C1A3F5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Why this score? Expandable details in the dashboard show report evidence and the formula.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3ACFD6-12D6-428F-8F47-88D66F8E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PlasticWatch · PS-08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72D41-74CA-4645-9403-C72E2466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5233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AB1939-8405-4F7A-964A-AE49B50C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AI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7A48B-30BD-4105-AF0C-50E60F8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TACO provides labelled waste images for the next detector stage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64DD7-9FF9-44C7-B739-813A3F8F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TACO is training data, not a trained detector.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65882-D378-4171-B5B5-C993803B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622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22BB6-85C1-4046-AEAF-B5009964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1,500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7D7D3-7BA7-4DE2-8826-9FF3BBAD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images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A7AEC-C1AA-4AE4-A4A7-1B00D636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52625"/>
            <a:ext cx="23622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96D2D-815C-49D3-BCCB-C16A874F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431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4,784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D1AED-1331-4306-A76C-D8DA2F9B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5717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labelled objects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252AD-FC16-48BE-B751-4D200512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23622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2D80B-ACFF-4354-A9E0-666C40C2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431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6498A-C3E0-445D-93E5-46D54586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categories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4D59C-6429-4AB8-A381-55101DD7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52625"/>
            <a:ext cx="23622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1D5A5-41A2-409C-8E63-73C70D32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431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344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DEE93-69BA-4B2B-8A4D-B0F4F5BA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5717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project classes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249B2-852B-49C3-88C6-532AE34B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Training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C7C7D-38A2-4EFE-9580-E538F67E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424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ABC50-7A2D-4AE0-962A-C1073AD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TACO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15B22-AE13-4E9A-AB09-15B59DF8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362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AC011-223E-4E55-8892-2FFDFC7E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38625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424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096E94-F9D1-4048-BB5F-9007C6A2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4386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4-class 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9DAC6-3F7B-400E-BF3E-DE7004BE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62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70ECE-8D79-496A-AC71-3724B361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38625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86EDE8-BD54-4813-B1DB-08C3D9F9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386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Fine-tune detector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1804D1-0EF5-4213-B3B8-03D20E03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62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4BA04-066F-425D-AB7C-E7979742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238625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2BF70-4C5B-4CA8-B0D1-929639F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4386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Image upload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5EDD5-6926-477D-B3E7-C3AAAFFD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62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935BD5-C398-4EF2-B9EE-7DC6E8E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38625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E69874-3BF5-4468-8552-37B968A0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386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Plastic 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60B82F-FBC0-4358-B568-8CDA52F2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FC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FCBFF"/>
                </a:solidFill>
                <a:latin typeface="Helvetica Neue"/>
                <a:ea typeface="Helvetica Neue"/>
                <a:cs typeface="Helvetica Neue"/>
              </a:rPr>
              <a:t>Classes: plastic bottle · bag / wrapper · mixed plastic · uncertain / non-plastic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EAE8E-DCA0-4E76-96E5-397626A7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PlasticWatch · PS-08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E1C1F4-D6BE-4FD5-9D6E-7B62B22C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7545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D52DA7-4C3D-4526-AB17-21B70E3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FIELD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826A0-9D2D-4671-9CC7-4F6F4D76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301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Verification protects teams from false positives and creates before / after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B8237-71BF-45F2-87C1-AC3DFE18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The queue recommends inspection. It does not trigger autonomous enforcement or assign responsibility.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8FC35-B6F6-4718-920E-D40B72FD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E6EFB-1112-4052-93C0-EFCDE29A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241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65AC7-46BF-41B7-B213-6C5F83A0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7336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PH-01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59097-6EBC-4457-B20C-FDD786DD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24150"/>
            <a:ext cx="1095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C4B95-99A8-47A6-9295-F050B4C9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813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51C"/>
                </a:solidFill>
                <a:latin typeface="Helvetica Neue"/>
                <a:ea typeface="Helvetica Neue"/>
                <a:cs typeface="Helvetica Neue"/>
              </a:rPr>
              <a:t>VERIFY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8000E-1DA1-4882-91EE-568A83C1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286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rPr>
              <a:t>99.1 /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F348E-2624-457A-8F85-B50F2AD1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909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3 reports · 35 m to drain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37838-6CCD-4C96-B7E1-956B8C01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171950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📷 Collect photo + GPS</a:t>
            </a:r>
          </a:p>
          <a:p xmlns:a="http://schemas.openxmlformats.org/drawingml/2006/main">
            <a:pPr>
              <a:def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✓ Confirm material type</a:t>
            </a:r>
          </a:p>
          <a:p xmlns:a="http://schemas.openxmlformats.org/drawingml/2006/main">
            <a:pPr>
              <a:def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🧹 Approve cleanup if 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6D2A9-2130-4EAF-BD41-4DA3141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04837-5DB9-48E1-A673-0F90EBA3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241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43DEA-54A2-4C87-9047-F2F59E88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336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PH-02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3AB4C-A55A-4E4D-8568-5A984208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24150"/>
            <a:ext cx="1095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5B6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5798E-DE41-44F9-91FE-3C370C2D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813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51C"/>
                </a:solidFill>
                <a:latin typeface="Helvetica Neue"/>
                <a:ea typeface="Helvetica Neue"/>
                <a:cs typeface="Helvetica Neue"/>
              </a:rPr>
              <a:t>VERIFY NOW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5978B-C417-4284-93DB-1A43E4D3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86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45B69"/>
                </a:solidFill>
                <a:latin typeface="Helvetica Neue"/>
                <a:ea typeface="Helvetica Neue"/>
                <a:cs typeface="Helvetica Neue"/>
              </a:rPr>
              <a:t>91.8 / 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15515-DEA2-4644-8173-6E3FFA68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909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2 reports · 20 m to drain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66542-59FF-4216-A19F-B9B8B197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71950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📷 Collect photo + GPS</a:t>
            </a:r>
          </a:p>
          <a:p xmlns:a="http://schemas.openxmlformats.org/drawingml/2006/main">
            <a:pPr>
              <a:def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✓ Confirm material type</a:t>
            </a:r>
          </a:p>
          <a:p xmlns:a="http://schemas.openxmlformats.org/drawingml/2006/main">
            <a:pPr>
              <a:def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🧹 Approve cleanup if verified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52743-03E5-4468-B167-A78BCBD2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238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066B8-143C-4136-929A-47B9763E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241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E10D8-8C12-4EAA-B13C-18DAABFA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336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PH-03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3C041-EA60-4027-871C-9C3E207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24150"/>
            <a:ext cx="1095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6FCB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6DFE87-5421-4297-9261-9FC8C32B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81300"/>
            <a:ext cx="1095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51C"/>
                </a:solidFill>
                <a:latin typeface="Helvetica Neue"/>
                <a:ea typeface="Helvetica Neue"/>
                <a:cs typeface="Helvetica Neue"/>
              </a:rPr>
              <a:t>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5D7FF-07D1-45E1-B0B4-9A440F38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86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FC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6FCBFF"/>
                </a:solidFill>
                <a:latin typeface="Helvetica Neue"/>
                <a:ea typeface="Helvetica Neue"/>
                <a:cs typeface="Helvetica Neue"/>
              </a:rPr>
              <a:t>46.5 / 100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31EA4-A668-43C1-BC08-3A59F3B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909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1 report · 210 m to drain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8863B7-4CEC-4043-8AED-4E16BEF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171950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📷 Collect photo + GPS</a:t>
            </a:r>
          </a:p>
          <a:p xmlns:a="http://schemas.openxmlformats.org/drawingml/2006/main">
            <a:pPr>
              <a:def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✓ Confirm material type</a:t>
            </a:r>
          </a:p>
          <a:p xmlns:a="http://schemas.openxmlformats.org/drawingml/2006/main">
            <a:pPr>
              <a:def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🧹 Approve cleanup if verified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158BDD-1456-47B4-8DA7-E4E2B972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Outcome record: reported → verified / rejected → cleaned → before / after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B8C9D-3E69-45B8-AB7A-A2819801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PlasticWatch · PS-08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2BB503-4F17-4EE5-ABFB-C8280045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7210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2E7E8-DD07-4522-A26D-3FCCB841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SCALE AND SAFEGUARDS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21B10-3CCB-453F-BE34-28C351C4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987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One common report schema lets PlasticWatch expand from a demo to ward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82FA5-0E03-48D0-AA4C-FC52BE17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The system separates evidence, prioritisation, verification, and cleanup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C7139-FF78-4F6B-99F8-C88A04DF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86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DC05B-A6A0-47EA-89BF-57C25962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34A97-A301-4BE6-8FB2-7E00BFF8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Citizen image</a:t>
            </a:r>
          </a:p>
          <a:p xmlns:a="http://schemas.openxmlformats.org/drawingml/2006/main">
            <a:pPr>
              <a:def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Ward-worker report</a:t>
            </a:r>
          </a:p>
          <a:p xmlns:a="http://schemas.openxmlformats.org/drawingml/2006/main">
            <a:pPr>
              <a:def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Street-camera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80D05-2C4D-4393-B91D-3E7252FD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952625"/>
            <a:ext cx="3286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2FD08-F3AA-4F6F-9A70-E032A1E6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098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Decision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02A43-BEAB-46CF-8645-FA7AE94C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241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Detector confidence</a:t>
            </a:r>
          </a:p>
          <a:p xmlns:a="http://schemas.openxmlformats.org/drawingml/2006/main">
            <a:pPr>
              <a:def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Duplicate clustering</a:t>
            </a:r>
          </a:p>
          <a:p xmlns:a="http://schemas.openxmlformats.org/drawingml/2006/main">
            <a:pPr>
              <a:def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Drain-risk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33728-D055-4B51-86E2-D47D8FF5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52625"/>
            <a:ext cx="3286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22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9E4F2-F4FF-4B28-93C5-568ED061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098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Field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1A621-90B6-4035-BFCC-614EF535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Verification result</a:t>
            </a:r>
          </a:p>
          <a:p xmlns:a="http://schemas.openxmlformats.org/drawingml/2006/main">
            <a:pPr>
              <a:def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Before / after evidence</a:t>
            </a:r>
          </a:p>
          <a:p xmlns:a="http://schemas.openxmlformats.org/drawingml/2006/main">
            <a:pPr>
              <a:def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Model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C2F03-E390-4908-98C2-A1E89721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810875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02D3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264A2-B072-4B5A-A2B4-2D05B018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B9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6B94C"/>
                </a:solidFill>
                <a:latin typeface="Helvetica Neue"/>
                <a:ea typeface="Helvetica Neue"/>
                <a:cs typeface="Helvetica Neue"/>
              </a:rPr>
              <a:t>Safeguard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514A6-F574-4530-9E59-782400F5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054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47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AI confidence is evidence, not final truth. Human teams verify material type before a cleanup decision or any public claim.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DF01F-960E-4D12-81DD-D7C2ECB0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PlasticWatch · PS-08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2DDC0-86BA-49DA-884A-B1E231FE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77088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F3B2F-3D46-4A59-906E-47A8FB1D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LIVE DEMO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EF210-61AF-47BB-8577-9BEB83EE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A 90-second walkthrough of the working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4E0AB-721D-4734-9676-F3C81765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Use the dashboard, not slides, for the main product proof.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AD06A-0B42-42F2-B092-EEBB9C5D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0–10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0ED1E-B3DA-456A-9284-341040F7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838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Problem and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6402C-B313-4A39-95EF-D7AAC8A0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383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Open the header. Point out PS-08 and the DEMO / SIMULATION label.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B9FCC-C9AC-4F71-8F26-CED0EF84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65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7267E-4B48-45D7-9819-EFFE450E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10–35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B2882-75E9-4602-974C-E06FEFFD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527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Hotspot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69305-1758-408F-90EA-E0C258F8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Select PH-01. Explain duplicate merging, score, and drain distance.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BCE3E-9949-40CF-BE79-F350D87F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65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3C277-9C35-48FD-9584-0778E9DC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35–55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657E9-ECE2-4021-BC53-F331F7B9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670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E2BC9-A1CD-4B61-A4E3-E29B31B4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6707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Open Evidence &amp; AI. Show confidence and verification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4E015-4E5E-4CA2-9448-C7BF04AB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65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1013D-483E-4834-876C-77D894B9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55–75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A5152-14C8-4827-8B2C-8FAB0ACD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9814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Field queue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2A77F1-0C24-4FB2-9B63-8AE0CA48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Open Verification Queue. Explain the order and human decision gate.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4DE0E-DD99-4D90-8D78-5AAD8B8F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65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50711-8DAC-464D-ADB3-553529DD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1C8AE"/>
                </a:solidFill>
                <a:latin typeface="Helvetica Neue"/>
                <a:ea typeface="Helvetica Neue"/>
                <a:cs typeface="Helvetica Neue"/>
              </a:rPr>
              <a:t>75–90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DBA0A-B559-42FA-8673-66AF64F0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958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1FAF6"/>
                </a:solidFill>
                <a:latin typeface="Helvetica Neue"/>
                <a:ea typeface="Helvetica Neue"/>
                <a:cs typeface="Helvetica Neue"/>
              </a:rPr>
              <a:t>TACO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F621C-43F9-423D-8DF8-3AC1C5BF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958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Show the TACO status. State that training data is ready, while the detector remains the next phase.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CE9019-2A7F-4899-8DD2-21EF7A6A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65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1E9EA0-8BBA-4472-99D8-B373804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PlasticWatch · PS-08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DFE2D-D50C-4339-BB30-2972877F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A7C5C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79169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2026-09-13T14:23:58.0010000Z</dcterms:created>
  <dcterms:modified xsi:type="dcterms:W3CDTF">2026-09-13T14:23:58.0010000Z</dcterms:modified>
</coreProperties>
</file>